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48" r:id="rId4"/>
  </p:sldMasterIdLst>
  <p:notesMasterIdLst>
    <p:notesMasterId r:id="rId5"/>
  </p:notesMasterIdLst>
  <p:sldIdLst>
    <p:sldId id="256" r:id="rId6"/>
  </p:sldIdLst>
  <p:sldSz cy="6858000" cx="9144000"/>
  <p:notesSz cx="6858000" cy="9144000"/>
  <p:embeddedFontLst>
    <p:embeddedFont>
      <p:font typeface="Helvetica Neue"/>
      <p:regular r:id="rId7"/>
      <p:bold r:id="rId8"/>
      <p:italic r:id="rId9"/>
      <p:boldItalic r:id="rId10"/>
    </p:embeddedFont>
    <p:embeddedFont>
      <p:font typeface="Helvetica Neue Light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6">
          <p15:clr>
            <a:srgbClr val="000000"/>
          </p15:clr>
        </p15:guide>
        <p15:guide id="2" orient="horz" pos="1294">
          <p15:clr>
            <a:srgbClr val="000000"/>
          </p15:clr>
        </p15:guide>
        <p15:guide id="3" orient="horz" pos="3745">
          <p15:clr>
            <a:srgbClr val="000000"/>
          </p15:clr>
        </p15:guide>
        <p15:guide id="4" orient="horz" pos="3980">
          <p15:clr>
            <a:srgbClr val="000000"/>
          </p15:clr>
        </p15:guide>
        <p15:guide id="5" orient="horz" pos="1052">
          <p15:clr>
            <a:srgbClr val="000000"/>
          </p15:clr>
        </p15:guide>
        <p15:guide id="6" orient="horz" pos="1741">
          <p15:clr>
            <a:srgbClr val="000000"/>
          </p15:clr>
        </p15:guide>
        <p15:guide id="7" orient="horz" pos="4183">
          <p15:clr>
            <a:srgbClr val="000000"/>
          </p15:clr>
        </p15:guide>
        <p15:guide id="8" orient="horz" pos="566">
          <p15:clr>
            <a:srgbClr val="000000"/>
          </p15:clr>
        </p15:guide>
        <p15:guide id="9" orient="horz" pos="2808">
          <p15:clr>
            <a:srgbClr val="000000"/>
          </p15:clr>
        </p15:guide>
        <p15:guide id="10" pos="2880">
          <p15:clr>
            <a:srgbClr val="000000"/>
          </p15:clr>
        </p15:guide>
        <p15:guide id="11" pos="363">
          <p15:clr>
            <a:srgbClr val="000000"/>
          </p15:clr>
        </p15:guide>
        <p15:guide id="12" pos="5396">
          <p15:clr>
            <a:srgbClr val="000000"/>
          </p15:clr>
        </p15:guide>
        <p15:guide id="13" pos="282">
          <p15:clr>
            <a:srgbClr val="000000"/>
          </p15:clr>
        </p15:guide>
        <p15:guide id="14" pos="3784">
          <p15:clr>
            <a:srgbClr val="000000"/>
          </p15:clr>
        </p15:guide>
        <p15:guide id="15" pos="3736">
          <p15:clr>
            <a:srgbClr val="000000"/>
          </p15:clr>
        </p15:guide>
        <p15:guide id="16" pos="2179">
          <p15:clr>
            <a:srgbClr val="000000"/>
          </p15:clr>
        </p15:guide>
        <p15:guide id="17" pos="5464">
          <p15:clr>
            <a:srgbClr val="000000"/>
          </p15:clr>
        </p15:guide>
        <p15:guide id="18" pos="3867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15" roundtripDataSignature="AMtx7miMEQ3uJj3SzHM6y7lPdzRgHdF6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6" orient="horz"/>
        <p:guide pos="1294" orient="horz"/>
        <p:guide pos="3745" orient="horz"/>
        <p:guide pos="3980" orient="horz"/>
        <p:guide pos="1052" orient="horz"/>
        <p:guide pos="1741" orient="horz"/>
        <p:guide pos="4183" orient="horz"/>
        <p:guide pos="566" orient="horz"/>
        <p:guide pos="2808" orient="horz"/>
        <p:guide pos="2880"/>
        <p:guide pos="363"/>
        <p:guide pos="5396"/>
        <p:guide pos="282"/>
        <p:guide pos="3784"/>
        <p:guide pos="3736"/>
        <p:guide pos="2179"/>
        <p:guide pos="5464"/>
        <p:guide pos="386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HelveticaNeueLight-regular.fntdata"/><Relationship Id="rId10" Type="http://schemas.openxmlformats.org/officeDocument/2006/relationships/font" Target="fonts/HelveticaNeue-boldItalic.fntdata"/><Relationship Id="rId13" Type="http://schemas.openxmlformats.org/officeDocument/2006/relationships/font" Target="fonts/HelveticaNeueLight-italic.fntdata"/><Relationship Id="rId12" Type="http://schemas.openxmlformats.org/officeDocument/2006/relationships/font" Target="fonts/HelveticaNeueLight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HelveticaNeue-italic.fntdata"/><Relationship Id="rId15" Type="http://customschemas.google.com/relationships/presentationmetadata" Target="metadata"/><Relationship Id="rId14" Type="http://schemas.openxmlformats.org/officeDocument/2006/relationships/font" Target="fonts/HelveticaNeueLight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HelveticaNeue-regular.fntdata"/><Relationship Id="rId8" Type="http://schemas.openxmlformats.org/officeDocument/2006/relationships/font" Target="fonts/HelveticaNeue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856d808734_0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856d80873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g2856d808734_0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>
  <p:cSld name="Titl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868434" y="6196867"/>
            <a:ext cx="2275566" cy="66113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140195"/>
            <a:ext cx="1973583" cy="71780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17"/>
          <p:cNvSpPr txBox="1"/>
          <p:nvPr>
            <p:ph type="ctrTitle"/>
          </p:nvPr>
        </p:nvSpPr>
        <p:spPr>
          <a:xfrm>
            <a:off x="557213" y="536575"/>
            <a:ext cx="8008800" cy="2246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300"/>
              <a:buFont typeface="Arial"/>
              <a:buNone/>
              <a:defRPr b="1" sz="43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57213" y="3646170"/>
            <a:ext cx="7989900" cy="218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b="0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4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2" type="body"/>
          </p:nvPr>
        </p:nvSpPr>
        <p:spPr>
          <a:xfrm>
            <a:off x="557213" y="2755011"/>
            <a:ext cx="8008800" cy="6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b="0" sz="4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6576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160"/>
              <a:buChar char="•"/>
              <a:defRPr/>
            </a:lvl2pPr>
            <a:lvl3pPr indent="-36576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-"/>
              <a:defRPr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  <a:defRPr/>
            </a:lvl4pPr>
            <a:lvl5pPr indent="-36576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id="19" name="Google Shape;1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-43500"/>
            <a:ext cx="9158397" cy="68687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125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" y="934933"/>
            <a:ext cx="8685249" cy="202691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18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18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" type="body"/>
          </p:nvPr>
        </p:nvSpPr>
        <p:spPr>
          <a:xfrm>
            <a:off x="457200" y="1243584"/>
            <a:ext cx="81090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None/>
              <a:defRPr/>
            </a:lvl1pPr>
            <a:lvl2pPr indent="-39624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981E32"/>
              </a:buClr>
              <a:buSzPts val="2640"/>
              <a:buChar char="•"/>
              <a:defRPr/>
            </a:lvl2pPr>
            <a:lvl3pPr indent="-3810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Char char="-"/>
              <a:defRPr b="0"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160"/>
              <a:buChar char="•"/>
              <a:defRPr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192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zettar_logo_200px_mark" id="27" name="Google Shape;27;p19"/>
          <p:cNvPicPr preferRelativeResize="0"/>
          <p:nvPr/>
        </p:nvPicPr>
        <p:blipFill rotWithShape="1">
          <a:blip r:embed="rId2">
            <a:alphaModFix/>
          </a:blip>
          <a:srcRect b="0" l="0" r="69492" t="0"/>
          <a:stretch/>
        </p:blipFill>
        <p:spPr>
          <a:xfrm>
            <a:off x="228600" y="228600"/>
            <a:ext cx="609600" cy="550863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0" name="Google Shape;30;p19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3810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2000"/>
            </a:lvl2pPr>
            <a:lvl3pPr indent="-36576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-"/>
              <a:defRPr sz="1800"/>
            </a:lvl3pPr>
            <a:lvl4pPr indent="-35052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  <a:defRPr sz="1600"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1" name="Google Shape;31;p19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b="1" sz="2400"/>
            </a:lvl1pPr>
            <a:lvl2pPr indent="-2286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4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2" name="Google Shape;32;p19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indent="-38100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  <a:defRPr sz="2000"/>
            </a:lvl2pPr>
            <a:lvl3pPr indent="-36576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-"/>
              <a:defRPr sz="1800"/>
            </a:lvl3pPr>
            <a:lvl4pPr indent="-35052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•"/>
              <a:defRPr sz="1600"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33" name="Google Shape;33;p19"/>
          <p:cNvSpPr txBox="1"/>
          <p:nvPr>
            <p:ph idx="10" type="dt"/>
          </p:nvPr>
        </p:nvSpPr>
        <p:spPr>
          <a:xfrm>
            <a:off x="457200" y="6324600"/>
            <a:ext cx="2119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4" name="Google Shape;34;p19"/>
          <p:cNvSpPr txBox="1"/>
          <p:nvPr>
            <p:ph idx="11" type="ftr"/>
          </p:nvPr>
        </p:nvSpPr>
        <p:spPr>
          <a:xfrm>
            <a:off x="3048000" y="6324600"/>
            <a:ext cx="3124200" cy="3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buNone/>
              <a:defRPr b="0" sz="11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vider">
  <p:cSld name="Divider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/>
          <p:nvPr>
            <p:ph idx="2" type="pic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38" name="Google Shape;38;p20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125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4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" y="934933"/>
            <a:ext cx="8685249" cy="202691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1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" name="Google Shape;43;p21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" type="body"/>
          </p:nvPr>
        </p:nvSpPr>
        <p:spPr>
          <a:xfrm>
            <a:off x="457200" y="1243584"/>
            <a:ext cx="38862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None/>
              <a:defRPr/>
            </a:lvl1pPr>
            <a:lvl2pPr indent="-39624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981E32"/>
              </a:buClr>
              <a:buSzPts val="2640"/>
              <a:buChar char="•"/>
              <a:defRPr/>
            </a:lvl2pPr>
            <a:lvl3pPr indent="-3810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Char char="-"/>
              <a:defRPr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160"/>
              <a:buChar char="•"/>
              <a:defRPr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192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2" type="body"/>
          </p:nvPr>
        </p:nvSpPr>
        <p:spPr>
          <a:xfrm>
            <a:off x="4648200" y="1252729"/>
            <a:ext cx="38862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None/>
              <a:defRPr/>
            </a:lvl1pPr>
            <a:lvl2pPr indent="-39624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rgbClr val="981E32"/>
              </a:buClr>
              <a:buSzPts val="2640"/>
              <a:buChar char="•"/>
              <a:defRPr/>
            </a:lvl2pPr>
            <a:lvl3pPr indent="-3810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400"/>
              <a:buChar char="-"/>
              <a:defRPr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2160"/>
              <a:buChar char="•"/>
              <a:defRPr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81E32"/>
              </a:buClr>
              <a:buSzPts val="192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line headline">
  <p:cSld name="2 line headline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Google Shape;47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125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48" name="Google Shape;4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" y="934933"/>
            <a:ext cx="8685249" cy="202691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22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22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/>
          <p:nvPr>
            <p:ph idx="2" type="pic"/>
          </p:nvPr>
        </p:nvSpPr>
        <p:spPr>
          <a:xfrm>
            <a:off x="3646488" y="1252728"/>
            <a:ext cx="2442300" cy="24810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22"/>
          <p:cNvSpPr/>
          <p:nvPr>
            <p:ph idx="3" type="pic"/>
          </p:nvPr>
        </p:nvSpPr>
        <p:spPr>
          <a:xfrm>
            <a:off x="3646488" y="3886200"/>
            <a:ext cx="2442300" cy="2432100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22"/>
          <p:cNvSpPr/>
          <p:nvPr>
            <p:ph idx="4" type="pic"/>
          </p:nvPr>
        </p:nvSpPr>
        <p:spPr>
          <a:xfrm>
            <a:off x="6242954" y="1243584"/>
            <a:ext cx="2442300" cy="50655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22"/>
          <p:cNvSpPr txBox="1"/>
          <p:nvPr>
            <p:ph idx="1" type="body"/>
          </p:nvPr>
        </p:nvSpPr>
        <p:spPr>
          <a:xfrm>
            <a:off x="457200" y="1243584"/>
            <a:ext cx="30132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9624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40"/>
              <a:buChar char="•"/>
              <a:defRPr/>
            </a:lvl2pPr>
            <a:lvl3pPr indent="-3810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  <a:defRPr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and Chart on right">
  <p:cSld name="Content and Chart on righ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2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9144002" cy="1252728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" y="934933"/>
            <a:ext cx="8685249" cy="202691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23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algn="l">
              <a:spcBef>
                <a:spcPts val="0"/>
              </a:spcBef>
              <a:buNone/>
              <a:defRPr/>
            </a:lvl1pPr>
            <a:lvl2pPr indent="0" lvl="1" marL="0" algn="l">
              <a:spcBef>
                <a:spcPts val="0"/>
              </a:spcBef>
              <a:buNone/>
              <a:defRPr/>
            </a:lvl2pPr>
            <a:lvl3pPr indent="0" lvl="2" marL="0" algn="l">
              <a:spcBef>
                <a:spcPts val="0"/>
              </a:spcBef>
              <a:buNone/>
              <a:defRPr/>
            </a:lvl3pPr>
            <a:lvl4pPr indent="0" lvl="3" marL="0" algn="l">
              <a:spcBef>
                <a:spcPts val="0"/>
              </a:spcBef>
              <a:buNone/>
              <a:defRPr/>
            </a:lvl4pPr>
            <a:lvl5pPr indent="0" lvl="4" marL="0" algn="l">
              <a:spcBef>
                <a:spcPts val="0"/>
              </a:spcBef>
              <a:buNone/>
              <a:defRPr/>
            </a:lvl5pPr>
            <a:lvl6pPr indent="0" lvl="5" marL="0" algn="l">
              <a:spcBef>
                <a:spcPts val="0"/>
              </a:spcBef>
              <a:buNone/>
              <a:defRPr/>
            </a:lvl6pPr>
            <a:lvl7pPr indent="0" lvl="6" marL="0" algn="l">
              <a:spcBef>
                <a:spcPts val="0"/>
              </a:spcBef>
              <a:buNone/>
              <a:defRPr/>
            </a:lvl7pPr>
            <a:lvl8pPr indent="0" lvl="7" marL="0" algn="l">
              <a:spcBef>
                <a:spcPts val="0"/>
              </a:spcBef>
              <a:buNone/>
              <a:defRPr/>
            </a:lvl8pPr>
            <a:lvl9pPr indent="0" lvl="8" marL="0" algn="l">
              <a:spcBef>
                <a:spcPts val="0"/>
              </a:spcBef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9" name="Google Shape;59;p23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/>
          <p:nvPr>
            <p:ph idx="2" type="chart"/>
          </p:nvPr>
        </p:nvSpPr>
        <p:spPr>
          <a:xfrm>
            <a:off x="6007100" y="1243584"/>
            <a:ext cx="26670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264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2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23"/>
          <p:cNvSpPr txBox="1"/>
          <p:nvPr>
            <p:ph idx="1" type="body"/>
          </p:nvPr>
        </p:nvSpPr>
        <p:spPr>
          <a:xfrm>
            <a:off x="457200" y="1243584"/>
            <a:ext cx="5484900" cy="506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indent="-396240" lvl="1" marL="91440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2640"/>
              <a:buChar char="•"/>
              <a:defRPr/>
            </a:lvl2pPr>
            <a:lvl3pPr indent="-3810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400"/>
              <a:buChar char="-"/>
              <a:defRPr/>
            </a:lvl3pPr>
            <a:lvl4pPr indent="-36576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160"/>
              <a:buChar char="•"/>
              <a:defRPr/>
            </a:lvl4pPr>
            <a:lvl5pPr indent="-35052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920"/>
              <a:buChar char="-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451822" y="129091"/>
            <a:ext cx="8103600" cy="75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l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457200" y="1243584"/>
            <a:ext cx="81099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96240" lvl="1" marL="914400" marR="0" rtl="0" algn="l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264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Char char="-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6576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16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052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920"/>
              <a:buFont typeface="Arial"/>
              <a:buChar char="-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2" type="sldNum"/>
          </p:nvPr>
        </p:nvSpPr>
        <p:spPr>
          <a:xfrm>
            <a:off x="8566150" y="6318251"/>
            <a:ext cx="318900" cy="53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72000" spcFirstLastPara="1" rIns="72000" wrap="square" tIns="576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10" Type="http://schemas.openxmlformats.org/officeDocument/2006/relationships/image" Target="../media/image10.png"/><Relationship Id="rId9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4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856d808734_0_0"/>
          <p:cNvSpPr txBox="1"/>
          <p:nvPr>
            <p:ph type="ctrTitle"/>
          </p:nvPr>
        </p:nvSpPr>
        <p:spPr>
          <a:xfrm>
            <a:off x="157986" y="206525"/>
            <a:ext cx="2865300" cy="11334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Machine Learning &amp; Microelectronics for 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latin typeface="Helvetica Neue"/>
                <a:ea typeface="Helvetica Neue"/>
                <a:cs typeface="Helvetica Neue"/>
                <a:sym typeface="Helvetica Neue"/>
              </a:rPr>
              <a:t>New Physics Searches at Colliders </a:t>
            </a:r>
            <a:endParaRPr sz="21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8" name="Google Shape;68;g2856d808734_0_0"/>
          <p:cNvSpPr txBox="1"/>
          <p:nvPr>
            <p:ph idx="1" type="subTitle"/>
          </p:nvPr>
        </p:nvSpPr>
        <p:spPr>
          <a:xfrm>
            <a:off x="3267761" y="211448"/>
            <a:ext cx="2317500" cy="107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latin typeface="Helvetica Neue Light"/>
                <a:ea typeface="Helvetica Neue Light"/>
                <a:cs typeface="Helvetica Neue Light"/>
                <a:sym typeface="Helvetica Neue Light"/>
              </a:rPr>
              <a:t>PI: Julia Gonski </a:t>
            </a:r>
            <a:endParaRPr sz="11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latin typeface="Helvetica Neue Light"/>
                <a:ea typeface="Helvetica Neue Light"/>
                <a:cs typeface="Helvetica Neue Light"/>
                <a:sym typeface="Helvetica Neue Light"/>
              </a:rPr>
              <a:t>Postdocs: Sagar Addepalli, Qibin Liu </a:t>
            </a:r>
            <a:endParaRPr sz="9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900">
                <a:latin typeface="Helvetica Neue Light"/>
                <a:ea typeface="Helvetica Neue Light"/>
                <a:cs typeface="Helvetica Neue Light"/>
                <a:sym typeface="Helvetica Neue Light"/>
              </a:rPr>
              <a:t>PhD: Kenny Jia, Liangyu Wu</a:t>
            </a:r>
            <a:endParaRPr sz="900"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900">
                <a:latin typeface="Helvetica Neue Light"/>
                <a:ea typeface="Helvetica Neue Light"/>
                <a:cs typeface="Helvetica Neue Light"/>
                <a:sym typeface="Helvetica Neue Light"/>
              </a:rPr>
              <a:t>UG: Gia Ancone, Deniz Yilmaz, Alexander Yue</a:t>
            </a:r>
            <a:endParaRPr sz="900"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69" name="Google Shape;69;g2856d808734_0_0"/>
          <p:cNvSpPr txBox="1"/>
          <p:nvPr>
            <p:ph idx="4294967295" type="title"/>
          </p:nvPr>
        </p:nvSpPr>
        <p:spPr>
          <a:xfrm>
            <a:off x="81400" y="1503953"/>
            <a:ext cx="41247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lang="en-US" sz="1500">
                <a:latin typeface="Helvetica Neue"/>
                <a:ea typeface="Helvetica Neue"/>
                <a:cs typeface="Helvetica Neue"/>
                <a:sym typeface="Helvetica Neue"/>
              </a:rPr>
              <a:t>Anomaly Detection in the ATLAS Trigger</a:t>
            </a:r>
            <a:endParaRPr b="0"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70" name="Google Shape;70;g2856d808734_0_0"/>
          <p:cNvSpPr txBox="1"/>
          <p:nvPr>
            <p:ph idx="4294967295" type="title"/>
          </p:nvPr>
        </p:nvSpPr>
        <p:spPr>
          <a:xfrm>
            <a:off x="6986146" y="3114969"/>
            <a:ext cx="41247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lang="en-US" sz="1300">
                <a:latin typeface="Helvetica Neue"/>
                <a:ea typeface="Helvetica Neue"/>
                <a:cs typeface="Helvetica Neue"/>
                <a:sym typeface="Helvetica Neue"/>
              </a:rPr>
              <a:t>Edge ML &amp; Smart Detectors</a:t>
            </a:r>
            <a:endParaRPr b="0" sz="13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71" name="Google Shape;71;g2856d808734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1450" y="3672824"/>
            <a:ext cx="1735446" cy="1133401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g2856d808734_0_0"/>
          <p:cNvSpPr txBox="1"/>
          <p:nvPr/>
        </p:nvSpPr>
        <p:spPr>
          <a:xfrm>
            <a:off x="42025" y="1806275"/>
            <a:ext cx="3623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Machine learning-based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anomaly detection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 offline ATLAS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searches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can enable broad sensitivity to any kind of new physics that is not Standard Model-like. 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Ultra-low latency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anomaly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detection could push this capability to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the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trigger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level,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with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potential to write out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never-before-seen events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from the LHC.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3" name="Google Shape;73;g2856d808734_0_0"/>
          <p:cNvSpPr txBox="1"/>
          <p:nvPr/>
        </p:nvSpPr>
        <p:spPr>
          <a:xfrm>
            <a:off x="3473700" y="2869600"/>
            <a:ext cx="2766900" cy="12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We use a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VAE-GAN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trained over collision events modeled by the four-vectors of constituent particles.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To run anomaly detection algorithms in the low latency and limited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resources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of the ATLAS trigger, we employ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“fast ML”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techniques such as compression (i.e. truncating low-weight nodes), quantization, and reducing the loss terms.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4" name="Google Shape;74;g2856d808734_0_0"/>
          <p:cNvSpPr txBox="1"/>
          <p:nvPr/>
        </p:nvSpPr>
        <p:spPr>
          <a:xfrm>
            <a:off x="6033050" y="3740750"/>
            <a:ext cx="1268400" cy="94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ML at the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detector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“edge”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(the source of data) can reduce off-detector data rate and enable more efficient trigger and data acquisition.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5" name="Google Shape;75;g2856d808734_0_0"/>
          <p:cNvSpPr txBox="1"/>
          <p:nvPr/>
        </p:nvSpPr>
        <p:spPr>
          <a:xfrm>
            <a:off x="4732275" y="5147000"/>
            <a:ext cx="4371300" cy="9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In collaboration with TID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0"/>
                  </a:ext>
                </a:extLst>
              </a:rPr>
              <a:t>, we are exploring eFPGAs for ML-based signal processing, leveraging innovative data compression algorithms in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1"/>
                  </a:ext>
                </a:extLst>
              </a:rPr>
              <a:t>advanced tracker and calorimeter concepts.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2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3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4"/>
                  </a:ext>
                </a:extLst>
              </a:rPr>
              <a:t>For example, detectors at next-generation colliders like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5"/>
                  </a:ext>
                </a:extLst>
              </a:rPr>
              <a:t>CERN’s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6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7"/>
                  </a:ext>
                </a:extLst>
              </a:rPr>
              <a:t>Future Circular Collider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8"/>
                  </a:ext>
                </a:extLst>
              </a:rPr>
              <a:t>are looking at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9"/>
                  </a:ext>
                </a:extLst>
              </a:rPr>
              <a:t>drift chamber trackers;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10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11"/>
                  </a:ext>
                </a:extLst>
              </a:rPr>
              <a:t>we develop small compression models to perform key feature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  <a:extLst>
                <a:ext uri="http://customooxmlschemas.google.com/">
                  <go:slidesCustomData xmlns:go="http://customooxmlschemas.google.com/" textRoundtripDataId="12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13"/>
                  </a:ext>
                </a:extLst>
              </a:rPr>
              <a:t>extraction for deployment in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14"/>
                  </a:ext>
                </a:extLst>
              </a:rPr>
              <a:t> front-end readout.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  <a:extLst>
                <a:ext uri="http://customooxmlschemas.google.com/">
                  <go:slidesCustomData xmlns:go="http://customooxmlschemas.google.com/" textRoundtripDataId="15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  <a:extLst>
                <a:ext uri="http://customooxmlschemas.google.com/">
                  <go:slidesCustomData xmlns:go="http://customooxmlschemas.google.com/" textRoundtripDataId="16"/>
                </a:ext>
              </a:extLs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17"/>
                  </a:ext>
                </a:extLst>
              </a:rPr>
              <a:t>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6" name="Google Shape;76;g2856d808734_0_0"/>
          <p:cNvSpPr txBox="1"/>
          <p:nvPr/>
        </p:nvSpPr>
        <p:spPr>
          <a:xfrm>
            <a:off x="5042750" y="4819288"/>
            <a:ext cx="41247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Embedded field programmable gate arrays (eFPGAs)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allow the design of an ASIC usable at the detector front-end with a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reconfigurable digital logic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fabric.  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77" name="Google Shape;77;g2856d808734_0_0"/>
          <p:cNvSpPr txBox="1"/>
          <p:nvPr/>
        </p:nvSpPr>
        <p:spPr>
          <a:xfrm>
            <a:off x="3459175" y="4016513"/>
            <a:ext cx="21276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18"/>
                  </a:ext>
                </a:extLst>
              </a:rPr>
              <a:t>The first ATLAS anomaly trigger is on track for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19"/>
                  </a:ext>
                </a:extLst>
              </a:rPr>
              <a:t>data-taking in 2025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20"/>
                  </a:ext>
                </a:extLst>
              </a:rPr>
              <a:t>, and studies for Run 4 anomaly triggers are ongoing!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pic>
        <p:nvPicPr>
          <p:cNvPr id="78" name="Google Shape;78;g2856d808734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0766" y="-1"/>
            <a:ext cx="1285724" cy="1285749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g2856d808734_0_0"/>
          <p:cNvSpPr txBox="1"/>
          <p:nvPr>
            <p:ph idx="4294967295" type="title"/>
          </p:nvPr>
        </p:nvSpPr>
        <p:spPr>
          <a:xfrm>
            <a:off x="5640450" y="142548"/>
            <a:ext cx="27669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lang="en-US" sz="1400">
                <a:latin typeface="Helvetica Neue"/>
                <a:ea typeface="Helvetica Neue"/>
                <a:cs typeface="Helvetica Neue"/>
                <a:sym typeface="Helvetica Neue"/>
                <a:extLst>
                  <a:ext uri="http://customooxmlschemas.google.com/">
                    <go:slidesCustomData xmlns:go="http://customooxmlschemas.google.com/" textRoundtripDataId="21"/>
                  </a:ext>
                </a:extLst>
              </a:rPr>
              <a:t>Searching for Dark Sector Mediators</a:t>
            </a:r>
            <a:endParaRPr b="0" sz="14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0" name="Google Shape;80;g2856d808734_0_0"/>
          <p:cNvSpPr/>
          <p:nvPr/>
        </p:nvSpPr>
        <p:spPr>
          <a:xfrm>
            <a:off x="2590800" y="4762500"/>
            <a:ext cx="1003200" cy="1663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1" name="Google Shape;81;g2856d808734_0_0"/>
          <p:cNvSpPr/>
          <p:nvPr/>
        </p:nvSpPr>
        <p:spPr>
          <a:xfrm>
            <a:off x="339275" y="6004150"/>
            <a:ext cx="2007900" cy="699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cxnSp>
        <p:nvCxnSpPr>
          <p:cNvPr id="82" name="Google Shape;82;g2856d808734_0_0"/>
          <p:cNvCxnSpPr/>
          <p:nvPr/>
        </p:nvCxnSpPr>
        <p:spPr>
          <a:xfrm>
            <a:off x="2759800" y="4615950"/>
            <a:ext cx="26865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med" w="med" type="none"/>
            <a:tailEnd len="med" w="med" type="oval"/>
          </a:ln>
        </p:spPr>
      </p:cxnSp>
      <p:sp>
        <p:nvSpPr>
          <p:cNvPr id="83" name="Google Shape;83;g2856d808734_0_0"/>
          <p:cNvSpPr txBox="1"/>
          <p:nvPr>
            <p:ph idx="4294967295" type="title"/>
          </p:nvPr>
        </p:nvSpPr>
        <p:spPr>
          <a:xfrm>
            <a:off x="81400" y="4684312"/>
            <a:ext cx="4124700" cy="272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Arial"/>
              <a:buNone/>
            </a:pPr>
            <a:r>
              <a:rPr b="0" lang="en-US" sz="1500">
                <a:latin typeface="Helvetica Neue"/>
                <a:ea typeface="Helvetica Neue"/>
                <a:cs typeface="Helvetica Neue"/>
                <a:sym typeface="Helvetica Neue"/>
              </a:rPr>
              <a:t>Advancing ML on FPGAs &amp; MLPMixers </a:t>
            </a:r>
            <a:endParaRPr b="0" sz="15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84" name="Google Shape;84;g2856d808734_0_0"/>
          <p:cNvSpPr txBox="1"/>
          <p:nvPr/>
        </p:nvSpPr>
        <p:spPr>
          <a:xfrm>
            <a:off x="139625" y="5891800"/>
            <a:ext cx="3485700" cy="8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  <a:extLst>
                  <a:ext uri="http://customooxmlschemas.google.com/">
                    <go:slidesCustomData xmlns:go="http://customooxmlschemas.google.com/" textRoundtripDataId="22"/>
                  </a:ext>
                </a:extLst>
              </a:rPr>
              <a:t>In collaboration with TID,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we develop novel methods to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implement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the machine learning on FPGA, targeting ultra-fast ML inference and low power for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applications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like online data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acquisition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and processing. The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MLP-Mixer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architecture, promising for resource-limited transformer-like learning, 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has been successfully implemented, enabling the scaling up of edge/real-time ML to take advantage of state-of-the-art ML techniques.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grpSp>
        <p:nvGrpSpPr>
          <p:cNvPr id="85" name="Google Shape;85;g2856d808734_0_0"/>
          <p:cNvGrpSpPr/>
          <p:nvPr/>
        </p:nvGrpSpPr>
        <p:grpSpPr>
          <a:xfrm>
            <a:off x="208101" y="4963468"/>
            <a:ext cx="3691770" cy="1051465"/>
            <a:chOff x="110526" y="5010834"/>
            <a:chExt cx="3691770" cy="1051465"/>
          </a:xfrm>
        </p:grpSpPr>
        <p:pic>
          <p:nvPicPr>
            <p:cNvPr id="86" name="Google Shape;86;g2856d808734_0_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10526" y="5010834"/>
              <a:ext cx="3337201" cy="54099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7" name="Google Shape;87;g2856d808734_0_0"/>
            <p:cNvPicPr preferRelativeResize="0"/>
            <p:nvPr/>
          </p:nvPicPr>
          <p:blipFill rotWithShape="1">
            <a:blip r:embed="rId6">
              <a:alphaModFix/>
            </a:blip>
            <a:srcRect b="32318" l="0" r="0" t="0"/>
            <a:stretch/>
          </p:blipFill>
          <p:spPr>
            <a:xfrm>
              <a:off x="526625" y="5573393"/>
              <a:ext cx="2317502" cy="38214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8" name="Google Shape;88;g2856d808734_0_0"/>
            <p:cNvSpPr/>
            <p:nvPr/>
          </p:nvSpPr>
          <p:spPr>
            <a:xfrm rot="1877582">
              <a:off x="3271846" y="5316366"/>
              <a:ext cx="376000" cy="699266"/>
            </a:xfrm>
            <a:prstGeom prst="curvedLeftArrow">
              <a:avLst>
                <a:gd fmla="val 25000" name="adj1"/>
                <a:gd fmla="val 50000" name="adj2"/>
                <a:gd fmla="val 25000" name="adj3"/>
              </a:avLst>
            </a:prstGeom>
            <a:solidFill>
              <a:srgbClr val="888888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</a:endParaRPr>
            </a:p>
          </p:txBody>
        </p:sp>
      </p:grpSp>
      <p:pic>
        <p:nvPicPr>
          <p:cNvPr id="89" name="Google Shape;89;g2856d808734_0_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63650" y="5760184"/>
            <a:ext cx="2007900" cy="939316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2856d808734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94000" y="1520627"/>
            <a:ext cx="2439050" cy="14005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2856d808734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28238" y="2636982"/>
            <a:ext cx="3250975" cy="1847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g2856d808734_0_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108974" y="519650"/>
            <a:ext cx="1484552" cy="94350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g2856d808734_0_0"/>
          <p:cNvSpPr txBox="1"/>
          <p:nvPr/>
        </p:nvSpPr>
        <p:spPr>
          <a:xfrm>
            <a:off x="6302000" y="1429850"/>
            <a:ext cx="28653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Potential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dark matter particle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candidates can be produced in decays of heavy scalars. These dark matter particles can be long-lived and decay far away from the primary proton collision point, leading to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displaced decay vertices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.</a:t>
            </a:r>
            <a:endParaRPr sz="800">
              <a:solidFill>
                <a:schemeClr val="dk1"/>
              </a:solidFill>
              <a:latin typeface="Helvetica Neue Light"/>
              <a:ea typeface="Helvetica Neue Light"/>
              <a:cs typeface="Helvetica Neue Light"/>
              <a:sym typeface="Helvetica Neue Light"/>
            </a:endParaRPr>
          </a:p>
        </p:txBody>
      </p:sp>
      <p:sp>
        <p:nvSpPr>
          <p:cNvPr id="94" name="Google Shape;94;g2856d808734_0_0"/>
          <p:cNvSpPr txBox="1"/>
          <p:nvPr/>
        </p:nvSpPr>
        <p:spPr>
          <a:xfrm>
            <a:off x="6668627" y="2030577"/>
            <a:ext cx="25320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Using new reconstruction techniques, we can identify these displaced vertices in the ATLAS inner tracker and the calorimeter decaying to pairs of electrons.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5" name="Google Shape;95;g2856d808734_0_0"/>
          <p:cNvSpPr txBox="1"/>
          <p:nvPr/>
        </p:nvSpPr>
        <p:spPr>
          <a:xfrm>
            <a:off x="6866847" y="2552499"/>
            <a:ext cx="2392500" cy="6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Anomaly detection</a:t>
            </a:r>
            <a:r>
              <a:rPr lang="en-US" sz="800">
                <a:solidFill>
                  <a:schemeClr val="dk1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rPr>
              <a:t> is also used to look for signs of new physics which can decay into electron or photon final states with </a:t>
            </a:r>
            <a:r>
              <a:rPr b="1" lang="en-US" sz="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unusual topologies</a:t>
            </a:r>
            <a:endParaRPr b="1" sz="8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lank">
  <a:themeElements>
    <a:clrScheme name="SLAC_RevisedPalette_2012">
      <a:dk1>
        <a:srgbClr val="000000"/>
      </a:dk1>
      <a:lt1>
        <a:srgbClr val="FFFFFF"/>
      </a:lt1>
      <a:dk2>
        <a:srgbClr val="E17000"/>
      </a:dk2>
      <a:lt2>
        <a:srgbClr val="A4001D"/>
      </a:lt2>
      <a:accent1>
        <a:srgbClr val="A4001D"/>
      </a:accent1>
      <a:accent2>
        <a:srgbClr val="E17000"/>
      </a:accent2>
      <a:accent3>
        <a:srgbClr val="4D4F53"/>
      </a:accent3>
      <a:accent4>
        <a:srgbClr val="545455"/>
      </a:accent4>
      <a:accent5>
        <a:srgbClr val="0099CC"/>
      </a:accent5>
      <a:accent6>
        <a:srgbClr val="69BE28"/>
      </a:accent6>
      <a:hlink>
        <a:srgbClr val="A4001D"/>
      </a:hlink>
      <a:folHlink>
        <a:srgbClr val="A4001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2012-06-11T23:50:00Z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0x0101003309C022A5BACE4D8A86646BFE6F373A</vt:lpwstr>
  </property>
</Properties>
</file>